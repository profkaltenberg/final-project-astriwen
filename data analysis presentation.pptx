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Slab"/>
      <p:regular r:id="rId18"/>
      <p:bold r:id="rId19"/>
    </p:embeddedFon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6.xml"/><Relationship Id="rId22" Type="http://schemas.openxmlformats.org/officeDocument/2006/relationships/font" Target="fonts/Roboto-italic.fntdata"/><Relationship Id="rId10" Type="http://schemas.openxmlformats.org/officeDocument/2006/relationships/slide" Target="slides/slide5.xml"/><Relationship Id="rId21"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Slab-bold.fntdata"/><Relationship Id="rId6" Type="http://schemas.openxmlformats.org/officeDocument/2006/relationships/slide" Target="slides/slide1.xml"/><Relationship Id="rId18" Type="http://schemas.openxmlformats.org/officeDocument/2006/relationships/font" Target="fonts/RobotoSlab-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e1499afebe_0_2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e1499afebe_0_2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1499afebe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g3e1499afebe_2_7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e1499afebe_2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g3e1499afebe_2_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e1499afebe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g3e1499afebe_2_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1499afebe_0_2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e1499afebe_0_2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1499afebe_2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3e1499afebe_2_9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1499afebe_2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3e1499afebe_2_10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1499afebe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e1499afebe_2_10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1499afebe_2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e1499afebe_2_1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e1499afebe_0_2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e1499afebe_0_2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e1499afebe_2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e1499afebe_2_1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9" name="Shape 59"/>
        <p:cNvGrpSpPr/>
        <p:nvPr/>
      </p:nvGrpSpPr>
      <p:grpSpPr>
        <a:xfrm>
          <a:off x="0" y="0"/>
          <a:ext cx="0" cy="0"/>
          <a:chOff x="0" y="0"/>
          <a:chExt cx="0" cy="0"/>
        </a:xfrm>
      </p:grpSpPr>
      <p:sp>
        <p:nvSpPr>
          <p:cNvPr id="60" name="Google Shape;60;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1" name="Google Shape;61;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62" name="Google Shape;62;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ctrTitle"/>
          </p:nvPr>
        </p:nvSpPr>
        <p:spPr>
          <a:xfrm>
            <a:off x="1680302" y="1188925"/>
            <a:ext cx="5783400" cy="1457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t/>
            </a:r>
            <a:endParaRPr/>
          </a:p>
          <a:p>
            <a:pPr indent="0" lvl="0" marL="0" rtl="0" algn="ctr">
              <a:spcBef>
                <a:spcPts val="0"/>
              </a:spcBef>
              <a:spcAft>
                <a:spcPts val="0"/>
              </a:spcAft>
              <a:buNone/>
            </a:pPr>
            <a:r>
              <a:rPr lang="en"/>
              <a:t>Anime:</a:t>
            </a:r>
            <a:endParaRPr/>
          </a:p>
          <a:p>
            <a:pPr indent="0" lvl="0" marL="0" rtl="0" algn="ctr">
              <a:spcBef>
                <a:spcPts val="0"/>
              </a:spcBef>
              <a:spcAft>
                <a:spcPts val="0"/>
              </a:spcAft>
              <a:buNone/>
            </a:pPr>
            <a:r>
              <a:rPr lang="en"/>
              <a:t>Does more episodes mean better ratings?</a:t>
            </a:r>
            <a:endParaRPr/>
          </a:p>
        </p:txBody>
      </p:sp>
      <p:sp>
        <p:nvSpPr>
          <p:cNvPr id="70" name="Google Shape;70;p14"/>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fontScale="77500" lnSpcReduction="20000"/>
          </a:bodyPr>
          <a:lstStyle/>
          <a:p>
            <a:pPr indent="0" lvl="0" marL="0" rtl="0" algn="ctr">
              <a:spcBef>
                <a:spcPts val="0"/>
              </a:spcBef>
              <a:spcAft>
                <a:spcPts val="0"/>
              </a:spcAft>
              <a:buNone/>
            </a:pPr>
            <a:r>
              <a:rPr lang="en"/>
              <a:t>Najé Gray</a:t>
            </a:r>
            <a:endParaRPr/>
          </a:p>
          <a:p>
            <a:pPr indent="0" lvl="0" marL="0" rtl="0" algn="ctr">
              <a:spcBef>
                <a:spcPts val="0"/>
              </a:spcBef>
              <a:spcAft>
                <a:spcPts val="0"/>
              </a:spcAft>
              <a:buNone/>
            </a:pPr>
            <a:r>
              <a:rPr lang="en"/>
              <a:t>Eco 590</a:t>
            </a:r>
            <a:endParaRPr/>
          </a:p>
          <a:p>
            <a:pPr indent="0" lvl="0" marL="0" rtl="0" algn="ctr">
              <a:spcBef>
                <a:spcPts val="0"/>
              </a:spcBef>
              <a:spcAft>
                <a:spcPts val="0"/>
              </a:spcAft>
              <a:buNone/>
            </a:pPr>
            <a:r>
              <a:rPr lang="en"/>
              <a:t>Dr. Kaltenberg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457200" y="199053"/>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sz="4400"/>
              <a:t>Motivation</a:t>
            </a:r>
            <a:endParaRPr sz="4400"/>
          </a:p>
        </p:txBody>
      </p:sp>
      <p:sp>
        <p:nvSpPr>
          <p:cNvPr id="76" name="Google Shape;76;p15"/>
          <p:cNvSpPr txBox="1"/>
          <p:nvPr>
            <p:ph idx="1" type="body"/>
          </p:nvPr>
        </p:nvSpPr>
        <p:spPr>
          <a:xfrm>
            <a:off x="457200" y="1200150"/>
            <a:ext cx="8229600" cy="3394500"/>
          </a:xfrm>
          <a:prstGeom prst="rect">
            <a:avLst/>
          </a:prstGeom>
        </p:spPr>
        <p:txBody>
          <a:bodyPr anchorCtr="0" anchor="t" bIns="45700" lIns="91425" spcFirstLastPara="1" rIns="91425" wrap="square" tIns="45700">
            <a:normAutofit/>
          </a:bodyPr>
          <a:lstStyle/>
          <a:p>
            <a:pPr indent="-381000" lvl="0" marL="457200" rtl="0" algn="l">
              <a:spcBef>
                <a:spcPts val="360"/>
              </a:spcBef>
              <a:spcAft>
                <a:spcPts val="0"/>
              </a:spcAft>
              <a:buSzPts val="2400"/>
              <a:buChar char="-"/>
            </a:pPr>
            <a:r>
              <a:rPr lang="en" sz="2400"/>
              <a:t>Some animes are notoriously long yet have die-hard fanbases</a:t>
            </a:r>
            <a:endParaRPr sz="2400"/>
          </a:p>
          <a:p>
            <a:pPr indent="-381000" lvl="0" marL="457200" rtl="0" algn="l">
              <a:spcBef>
                <a:spcPts val="0"/>
              </a:spcBef>
              <a:spcAft>
                <a:spcPts val="0"/>
              </a:spcAft>
              <a:buSzPts val="2400"/>
              <a:buChar char="-"/>
            </a:pPr>
            <a:r>
              <a:rPr lang="en" sz="2400"/>
              <a:t>Some animes get cancelled after a single season but are regarded as some of the best</a:t>
            </a:r>
            <a:endParaRPr sz="2400"/>
          </a:p>
          <a:p>
            <a:pPr indent="-381000" lvl="0" marL="457200" rtl="0" algn="l">
              <a:spcBef>
                <a:spcPts val="0"/>
              </a:spcBef>
              <a:spcAft>
                <a:spcPts val="0"/>
              </a:spcAft>
              <a:buSzPts val="2400"/>
              <a:buChar char="-"/>
            </a:pPr>
            <a:r>
              <a:rPr lang="en" sz="2400"/>
              <a:t>I wondered if length was at all a contributing factor this</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solidFill>
                  <a:schemeClr val="dk1"/>
                </a:solidFill>
                <a:latin typeface="Calibri"/>
                <a:ea typeface="Calibri"/>
                <a:cs typeface="Calibri"/>
                <a:sym typeface="Calibri"/>
              </a:rPr>
              <a:t>Research Questions</a:t>
            </a:r>
            <a:endParaRPr sz="4400"/>
          </a:p>
        </p:txBody>
      </p:sp>
      <p:sp>
        <p:nvSpPr>
          <p:cNvPr id="82" name="Google Shape;82;p1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fontScale="70000" lnSpcReduction="20000"/>
          </a:bodyPr>
          <a:lstStyle/>
          <a:p>
            <a:pPr indent="0" lvl="0" marL="342900" rtl="0" algn="l">
              <a:spcBef>
                <a:spcPts val="0"/>
              </a:spcBef>
              <a:spcAft>
                <a:spcPts val="0"/>
              </a:spcAft>
              <a:buNone/>
            </a:pPr>
            <a:r>
              <a:rPr lang="en" sz="3200">
                <a:solidFill>
                  <a:schemeClr val="dk1"/>
                </a:solidFill>
                <a:latin typeface="Calibri"/>
                <a:ea typeface="Calibri"/>
                <a:cs typeface="Calibri"/>
                <a:sym typeface="Calibri"/>
              </a:rPr>
              <a:t>How does the number of episodes a</a:t>
            </a:r>
            <a:r>
              <a:rPr lang="en" sz="3200">
                <a:latin typeface="Calibri"/>
                <a:ea typeface="Calibri"/>
                <a:cs typeface="Calibri"/>
                <a:sym typeface="Calibri"/>
              </a:rPr>
              <a:t>n anime has</a:t>
            </a:r>
            <a:r>
              <a:rPr lang="en" sz="3200">
                <a:solidFill>
                  <a:schemeClr val="dk1"/>
                </a:solidFill>
                <a:latin typeface="Calibri"/>
                <a:ea typeface="Calibri"/>
                <a:cs typeface="Calibri"/>
                <a:sym typeface="Calibri"/>
              </a:rPr>
              <a:t> affect</a:t>
            </a:r>
            <a:r>
              <a:rPr lang="en" sz="3200">
                <a:latin typeface="Calibri"/>
                <a:ea typeface="Calibri"/>
                <a:cs typeface="Calibri"/>
                <a:sym typeface="Calibri"/>
              </a:rPr>
              <a:t> viewer rating and f</a:t>
            </a:r>
            <a:r>
              <a:rPr lang="en" sz="3200">
                <a:latin typeface="Calibri"/>
                <a:ea typeface="Calibri"/>
                <a:cs typeface="Calibri"/>
                <a:sym typeface="Calibri"/>
              </a:rPr>
              <a:t>urthermore, does this change when accounting for only tv animes?</a:t>
            </a:r>
            <a:endParaRPr sz="3200">
              <a:latin typeface="Calibri"/>
              <a:ea typeface="Calibri"/>
              <a:cs typeface="Calibri"/>
              <a:sym typeface="Calibri"/>
            </a:endParaRPr>
          </a:p>
          <a:p>
            <a:pPr indent="0" lvl="0" marL="342900" rtl="0" algn="l">
              <a:spcBef>
                <a:spcPts val="0"/>
              </a:spcBef>
              <a:spcAft>
                <a:spcPts val="0"/>
              </a:spcAft>
              <a:buNone/>
            </a:pPr>
            <a:r>
              <a:t/>
            </a:r>
            <a:endParaRPr sz="3200">
              <a:latin typeface="Calibri"/>
              <a:ea typeface="Calibri"/>
              <a:cs typeface="Calibri"/>
              <a:sym typeface="Calibri"/>
            </a:endParaRPr>
          </a:p>
          <a:p>
            <a:pPr indent="0" lvl="0" marL="342900" rtl="0" algn="l">
              <a:spcBef>
                <a:spcPts val="0"/>
              </a:spcBef>
              <a:spcAft>
                <a:spcPts val="0"/>
              </a:spcAft>
              <a:buNone/>
            </a:pPr>
            <a:r>
              <a:rPr lang="en" sz="3200">
                <a:latin typeface="Calibri"/>
                <a:ea typeface="Calibri"/>
                <a:cs typeface="Calibri"/>
                <a:sym typeface="Calibri"/>
              </a:rPr>
              <a:t>How does the era of time the anime came out affect rating as well? </a:t>
            </a:r>
            <a:endParaRPr sz="3200">
              <a:latin typeface="Calibri"/>
              <a:ea typeface="Calibri"/>
              <a:cs typeface="Calibri"/>
              <a:sym typeface="Calibri"/>
            </a:endParaRPr>
          </a:p>
          <a:p>
            <a:pPr indent="-139700" lvl="0" marL="342900" rtl="0" algn="l">
              <a:spcBef>
                <a:spcPts val="640"/>
              </a:spcBef>
              <a:spcAft>
                <a:spcPts val="0"/>
              </a:spcAft>
              <a:buClr>
                <a:schemeClr val="dk1"/>
              </a:buClr>
              <a:buSzPct val="100000"/>
              <a:buNone/>
            </a:pPr>
            <a:r>
              <a:t/>
            </a:r>
            <a:endParaRPr sz="3200">
              <a:solidFill>
                <a:schemeClr val="dk1"/>
              </a:solidFill>
              <a:latin typeface="Calibri"/>
              <a:ea typeface="Calibri"/>
              <a:cs typeface="Calibri"/>
              <a:sym typeface="Calibri"/>
            </a:endParaRPr>
          </a:p>
          <a:p>
            <a:pPr indent="-139700" lvl="0" marL="342900" rtl="0" algn="l">
              <a:spcBef>
                <a:spcPts val="640"/>
              </a:spcBef>
              <a:spcAft>
                <a:spcPts val="0"/>
              </a:spcAft>
              <a:buClr>
                <a:schemeClr val="dk1"/>
              </a:buClr>
              <a:buSzPct val="100000"/>
              <a:buNone/>
            </a:pPr>
            <a:r>
              <a:t/>
            </a:r>
            <a:endParaRPr sz="3200">
              <a:solidFill>
                <a:schemeClr val="dk1"/>
              </a:solidFill>
              <a:latin typeface="Calibri"/>
              <a:ea typeface="Calibri"/>
              <a:cs typeface="Calibri"/>
              <a:sym typeface="Calibri"/>
            </a:endParaRPr>
          </a:p>
          <a:p>
            <a:pPr indent="0" lvl="0" marL="342900" rtl="0" algn="l">
              <a:spcBef>
                <a:spcPts val="64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latin typeface="Calibri"/>
                <a:ea typeface="Calibri"/>
                <a:cs typeface="Calibri"/>
                <a:sym typeface="Calibri"/>
              </a:rPr>
              <a:t>Key </a:t>
            </a:r>
            <a:r>
              <a:rPr lang="en" sz="4400">
                <a:solidFill>
                  <a:schemeClr val="dk1"/>
                </a:solidFill>
                <a:latin typeface="Calibri"/>
                <a:ea typeface="Calibri"/>
                <a:cs typeface="Calibri"/>
                <a:sym typeface="Calibri"/>
              </a:rPr>
              <a:t>Variables</a:t>
            </a:r>
            <a:endParaRPr/>
          </a:p>
        </p:txBody>
      </p:sp>
      <p:sp>
        <p:nvSpPr>
          <p:cNvPr id="88" name="Google Shape;88;p17"/>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 sz="3200">
                <a:solidFill>
                  <a:schemeClr val="dk1"/>
                </a:solidFill>
                <a:latin typeface="Calibri"/>
                <a:ea typeface="Calibri"/>
                <a:cs typeface="Calibri"/>
                <a:sym typeface="Calibri"/>
              </a:rPr>
              <a:t>Dependent variable: score (user rating)</a:t>
            </a:r>
            <a:endParaRPr/>
          </a:p>
          <a:p>
            <a:pPr indent="-342900" lvl="0" marL="342900" rtl="0" algn="l">
              <a:spcBef>
                <a:spcPts val="640"/>
              </a:spcBef>
              <a:spcAft>
                <a:spcPts val="0"/>
              </a:spcAft>
              <a:buClr>
                <a:schemeClr val="dk1"/>
              </a:buClr>
              <a:buSzPts val="3200"/>
              <a:buChar char="●"/>
            </a:pPr>
            <a:r>
              <a:rPr lang="en" sz="3200">
                <a:latin typeface="Calibri"/>
                <a:ea typeface="Calibri"/>
                <a:cs typeface="Calibri"/>
                <a:sym typeface="Calibri"/>
              </a:rPr>
              <a:t>I</a:t>
            </a:r>
            <a:r>
              <a:rPr lang="en" sz="3200">
                <a:solidFill>
                  <a:schemeClr val="dk1"/>
                </a:solidFill>
                <a:latin typeface="Calibri"/>
                <a:ea typeface="Calibri"/>
                <a:cs typeface="Calibri"/>
                <a:sym typeface="Calibri"/>
              </a:rPr>
              <a:t>ndependent variable: episodes</a:t>
            </a:r>
            <a:endParaRPr/>
          </a:p>
          <a:p>
            <a:pPr indent="-342900" lvl="0" marL="342900" rtl="0" algn="l">
              <a:spcBef>
                <a:spcPts val="640"/>
              </a:spcBef>
              <a:spcAft>
                <a:spcPts val="0"/>
              </a:spcAft>
              <a:buClr>
                <a:schemeClr val="dk1"/>
              </a:buClr>
              <a:buSzPts val="3200"/>
              <a:buChar char="●"/>
            </a:pPr>
            <a:r>
              <a:rPr lang="en" sz="3200">
                <a:solidFill>
                  <a:schemeClr val="dk1"/>
                </a:solidFill>
                <a:latin typeface="Calibri"/>
                <a:ea typeface="Calibri"/>
                <a:cs typeface="Calibri"/>
                <a:sym typeface="Calibri"/>
              </a:rPr>
              <a:t>Controls: members, </a:t>
            </a:r>
            <a:r>
              <a:rPr lang="en" sz="3200">
                <a:latin typeface="Calibri"/>
                <a:ea typeface="Calibri"/>
                <a:cs typeface="Calibri"/>
                <a:sym typeface="Calibri"/>
              </a:rPr>
              <a:t>year, type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solidFill>
                  <a:schemeClr val="dk1"/>
                </a:solidFill>
                <a:latin typeface="Calibri"/>
                <a:ea typeface="Calibri"/>
                <a:cs typeface="Calibri"/>
                <a:sym typeface="Calibri"/>
              </a:rPr>
              <a:t>Data Collection</a:t>
            </a:r>
            <a:endParaRPr/>
          </a:p>
        </p:txBody>
      </p:sp>
      <p:sp>
        <p:nvSpPr>
          <p:cNvPr id="94" name="Google Shape;94;p18"/>
          <p:cNvSpPr txBox="1"/>
          <p:nvPr>
            <p:ph idx="1" type="body"/>
          </p:nvPr>
        </p:nvSpPr>
        <p:spPr>
          <a:xfrm>
            <a:off x="4721750" y="1063225"/>
            <a:ext cx="4114800" cy="3394500"/>
          </a:xfrm>
          <a:prstGeom prst="rect">
            <a:avLst/>
          </a:prstGeom>
          <a:noFill/>
          <a:ln>
            <a:noFill/>
          </a:ln>
        </p:spPr>
        <p:txBody>
          <a:bodyPr anchorCtr="0" anchor="t" bIns="45700" lIns="91425" spcFirstLastPara="1" rIns="91425" wrap="square" tIns="45700">
            <a:normAutofit fontScale="92500" lnSpcReduction="20000"/>
          </a:bodyPr>
          <a:lstStyle/>
          <a:p>
            <a:pPr indent="0" lvl="0" marL="342900" rtl="0" algn="l">
              <a:spcBef>
                <a:spcPts val="640"/>
              </a:spcBef>
              <a:spcAft>
                <a:spcPts val="0"/>
              </a:spcAft>
              <a:buNone/>
            </a:pPr>
            <a:r>
              <a:rPr lang="en">
                <a:latin typeface="Calibri"/>
                <a:ea typeface="Calibri"/>
                <a:cs typeface="Calibri"/>
                <a:sym typeface="Calibri"/>
              </a:rPr>
              <a:t>                                                                          -Data was simple to work with just a list of variables with each anime: 20 per page</a:t>
            </a:r>
            <a:endParaRPr>
              <a:latin typeface="Calibri"/>
              <a:ea typeface="Calibri"/>
              <a:cs typeface="Calibri"/>
              <a:sym typeface="Calibri"/>
            </a:endParaRPr>
          </a:p>
          <a:p>
            <a:pPr indent="0" lvl="0" marL="342900" rtl="0" algn="l">
              <a:spcBef>
                <a:spcPts val="1200"/>
              </a:spcBef>
              <a:spcAft>
                <a:spcPts val="0"/>
              </a:spcAft>
              <a:buNone/>
            </a:pPr>
            <a:r>
              <a:rPr lang="en">
                <a:latin typeface="Calibri"/>
                <a:ea typeface="Calibri"/>
                <a:cs typeface="Calibri"/>
                <a:sym typeface="Calibri"/>
              </a:rPr>
              <a:t>-Performing a simple for loop to go through all the pages and gather the data from it took around 20 minutes</a:t>
            </a:r>
            <a:endParaRPr>
              <a:latin typeface="Calibri"/>
              <a:ea typeface="Calibri"/>
              <a:cs typeface="Calibri"/>
              <a:sym typeface="Calibri"/>
            </a:endParaRPr>
          </a:p>
          <a:p>
            <a:pPr indent="0" lvl="0" marL="342900" rtl="0" algn="l">
              <a:spcBef>
                <a:spcPts val="1200"/>
              </a:spcBef>
              <a:spcAft>
                <a:spcPts val="0"/>
              </a:spcAft>
              <a:buNone/>
            </a:pPr>
            <a:r>
              <a:rPr lang="en">
                <a:latin typeface="Calibri"/>
                <a:ea typeface="Calibri"/>
                <a:cs typeface="Calibri"/>
                <a:sym typeface="Calibri"/>
              </a:rPr>
              <a:t>- Needed to use extend instead of append since data would be in blocks of 20 instead of individual lines that I could add to a data set</a:t>
            </a:r>
            <a:endParaRPr>
              <a:latin typeface="Calibri"/>
              <a:ea typeface="Calibri"/>
              <a:cs typeface="Calibri"/>
              <a:sym typeface="Calibri"/>
            </a:endParaRPr>
          </a:p>
          <a:p>
            <a:pPr indent="0" lvl="0" marL="342900" rtl="0" algn="l">
              <a:spcBef>
                <a:spcPts val="1200"/>
              </a:spcBef>
              <a:spcAft>
                <a:spcPts val="1200"/>
              </a:spcAft>
              <a:buNone/>
            </a:pPr>
            <a:r>
              <a:rPr lang="en">
                <a:latin typeface="Calibri"/>
                <a:ea typeface="Calibri"/>
                <a:cs typeface="Calibri"/>
                <a:sym typeface="Calibri"/>
              </a:rPr>
              <a:t>                                                            </a:t>
            </a:r>
            <a:endParaRPr>
              <a:latin typeface="Calibri"/>
              <a:ea typeface="Calibri"/>
              <a:cs typeface="Calibri"/>
              <a:sym typeface="Calibri"/>
            </a:endParaRPr>
          </a:p>
        </p:txBody>
      </p:sp>
      <p:pic>
        <p:nvPicPr>
          <p:cNvPr id="95" name="Google Shape;95;p18" title="Screenshot 2026-05-12 at 2.04.13 PM.png"/>
          <p:cNvPicPr preferRelativeResize="0"/>
          <p:nvPr/>
        </p:nvPicPr>
        <p:blipFill rotWithShape="1">
          <a:blip r:embed="rId3">
            <a:alphaModFix/>
          </a:blip>
          <a:srcRect b="-55596" l="-10545" r="-79460" t="-34410"/>
          <a:stretch/>
        </p:blipFill>
        <p:spPr>
          <a:xfrm>
            <a:off x="-404352" y="205975"/>
            <a:ext cx="8646703"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457200" y="205978"/>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 sz="4400"/>
              <a:t>Data Collected</a:t>
            </a:r>
            <a:endParaRPr sz="4400"/>
          </a:p>
        </p:txBody>
      </p:sp>
      <p:sp>
        <p:nvSpPr>
          <p:cNvPr id="101" name="Google Shape;101;p19"/>
          <p:cNvSpPr txBox="1"/>
          <p:nvPr>
            <p:ph idx="1" type="body"/>
          </p:nvPr>
        </p:nvSpPr>
        <p:spPr>
          <a:xfrm>
            <a:off x="457200" y="3961950"/>
            <a:ext cx="8229600" cy="632700"/>
          </a:xfrm>
          <a:prstGeom prst="rect">
            <a:avLst/>
          </a:prstGeom>
        </p:spPr>
        <p:txBody>
          <a:bodyPr anchorCtr="0" anchor="t" bIns="45700" lIns="91425" spcFirstLastPara="1" rIns="91425" wrap="square" tIns="45700">
            <a:normAutofit fontScale="25000" lnSpcReduction="20000"/>
          </a:bodyPr>
          <a:lstStyle/>
          <a:p>
            <a:pPr indent="0" lvl="0" marL="0" rtl="0" algn="l">
              <a:spcBef>
                <a:spcPts val="360"/>
              </a:spcBef>
              <a:spcAft>
                <a:spcPts val="0"/>
              </a:spcAft>
              <a:buNone/>
            </a:pPr>
            <a:r>
              <a:rPr lang="en" sz="7200"/>
              <a:t>Created Variables: p</a:t>
            </a:r>
            <a:r>
              <a:rPr lang="en" sz="7200"/>
              <a:t>ost y2k - Binary Variable that is a 1 if the anime was released during 2000 or later and a 0 if it was released beforehand</a:t>
            </a:r>
            <a:endParaRPr sz="7200"/>
          </a:p>
          <a:p>
            <a:pPr indent="0" lvl="0" marL="0" rtl="0" algn="l">
              <a:spcBef>
                <a:spcPts val="1200"/>
              </a:spcBef>
              <a:spcAft>
                <a:spcPts val="0"/>
              </a:spcAft>
              <a:buNone/>
            </a:pPr>
            <a:r>
              <a:rPr lang="en" sz="7200"/>
              <a:t>weighted popularity - Members/Episodes</a:t>
            </a:r>
            <a:endParaRPr sz="7200"/>
          </a:p>
          <a:p>
            <a:pPr indent="0" lvl="0" marL="0" rtl="0" algn="l">
              <a:spcBef>
                <a:spcPts val="1200"/>
              </a:spcBef>
              <a:spcAft>
                <a:spcPts val="1200"/>
              </a:spcAft>
              <a:buNone/>
            </a:pPr>
            <a:r>
              <a:t/>
            </a:r>
            <a:endParaRPr/>
          </a:p>
        </p:txBody>
      </p:sp>
      <p:pic>
        <p:nvPicPr>
          <p:cNvPr id="102" name="Google Shape;102;p19" title="Screenshot 2026-05-12 at 2.02.53 PM.png"/>
          <p:cNvPicPr preferRelativeResize="0"/>
          <p:nvPr/>
        </p:nvPicPr>
        <p:blipFill>
          <a:blip r:embed="rId3">
            <a:alphaModFix/>
          </a:blip>
          <a:stretch>
            <a:fillRect/>
          </a:stretch>
        </p:blipFill>
        <p:spPr>
          <a:xfrm>
            <a:off x="831798" y="1020414"/>
            <a:ext cx="7156676" cy="2758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latin typeface="Calibri"/>
                <a:ea typeface="Calibri"/>
                <a:cs typeface="Calibri"/>
                <a:sym typeface="Calibri"/>
              </a:rPr>
              <a:t>Graphs</a:t>
            </a:r>
            <a:endParaRPr/>
          </a:p>
        </p:txBody>
      </p:sp>
      <p:sp>
        <p:nvSpPr>
          <p:cNvPr id="108" name="Google Shape;108;p20"/>
          <p:cNvSpPr txBox="1"/>
          <p:nvPr>
            <p:ph idx="1" type="body"/>
          </p:nvPr>
        </p:nvSpPr>
        <p:spPr>
          <a:xfrm>
            <a:off x="6426650" y="1281150"/>
            <a:ext cx="2544300" cy="32886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None/>
            </a:pPr>
            <a:r>
              <a:rPr lang="en"/>
              <a:t>The shorter animes seem to have a lot of variance and are on average have less score than the other ones. The medium length and the longer animes are relatively the same score and have similar variance.</a:t>
            </a:r>
            <a:endParaRPr/>
          </a:p>
          <a:p>
            <a:pPr indent="0" lvl="0" marL="0" rtl="0" algn="l">
              <a:spcBef>
                <a:spcPts val="0"/>
              </a:spcBef>
              <a:spcAft>
                <a:spcPts val="0"/>
              </a:spcAft>
              <a:buNone/>
            </a:pPr>
            <a:r>
              <a:t/>
            </a:r>
            <a:endParaRPr/>
          </a:p>
        </p:txBody>
      </p:sp>
      <p:pic>
        <p:nvPicPr>
          <p:cNvPr id="109" name="Google Shape;109;p20" title="anime_plots1.png"/>
          <p:cNvPicPr preferRelativeResize="0"/>
          <p:nvPr/>
        </p:nvPicPr>
        <p:blipFill>
          <a:blip r:embed="rId3">
            <a:alphaModFix/>
          </a:blip>
          <a:stretch>
            <a:fillRect/>
          </a:stretch>
        </p:blipFill>
        <p:spPr>
          <a:xfrm>
            <a:off x="12" y="928637"/>
            <a:ext cx="6992225" cy="3902825"/>
          </a:xfrm>
          <a:prstGeom prst="rect">
            <a:avLst/>
          </a:prstGeom>
          <a:noFill/>
          <a:ln>
            <a:noFill/>
          </a:ln>
        </p:spPr>
      </p:pic>
      <p:pic>
        <p:nvPicPr>
          <p:cNvPr id="110" name="Google Shape;110;p20"/>
          <p:cNvPicPr preferRelativeResize="0"/>
          <p:nvPr/>
        </p:nvPicPr>
        <p:blipFill rotWithShape="1">
          <a:blip r:embed="rId4">
            <a:alphaModFix/>
          </a:blip>
          <a:srcRect b="0" l="0" r="0" t="15740"/>
          <a:stretch/>
        </p:blipFill>
        <p:spPr>
          <a:xfrm>
            <a:off x="7243675" y="137076"/>
            <a:ext cx="760364" cy="1144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solidFill>
                  <a:schemeClr val="dk1"/>
                </a:solidFill>
                <a:latin typeface="Calibri"/>
                <a:ea typeface="Calibri"/>
                <a:cs typeface="Calibri"/>
                <a:sym typeface="Calibri"/>
              </a:rPr>
              <a:t>Regression Code</a:t>
            </a:r>
            <a:endParaRPr/>
          </a:p>
        </p:txBody>
      </p:sp>
      <p:sp>
        <p:nvSpPr>
          <p:cNvPr id="116" name="Google Shape;116;p21"/>
          <p:cNvSpPr txBox="1"/>
          <p:nvPr>
            <p:ph idx="1" type="body"/>
          </p:nvPr>
        </p:nvSpPr>
        <p:spPr>
          <a:xfrm>
            <a:off x="6087575" y="1100450"/>
            <a:ext cx="2954400" cy="3394500"/>
          </a:xfrm>
          <a:prstGeom prst="rect">
            <a:avLst/>
          </a:prstGeom>
          <a:noFill/>
          <a:ln>
            <a:noFill/>
          </a:ln>
        </p:spPr>
        <p:txBody>
          <a:bodyPr anchorCtr="0" anchor="t" bIns="45700" lIns="91425" spcFirstLastPara="1" rIns="91425" wrap="square" tIns="45700">
            <a:normAutofit/>
          </a:bodyPr>
          <a:lstStyle/>
          <a:p>
            <a:pPr indent="0" lvl="0" marL="342900" rtl="0" algn="l">
              <a:spcBef>
                <a:spcPts val="640"/>
              </a:spcBef>
              <a:spcAft>
                <a:spcPts val="1200"/>
              </a:spcAft>
              <a:buNone/>
            </a:pPr>
            <a:r>
              <a:rPr lang="en"/>
              <a:t>Here I made 3 regressions: one with the full sample, one for tv only, and another that compares the post 2000 vs pre 2000 eras to see which one was rated better. </a:t>
            </a:r>
            <a:endParaRPr/>
          </a:p>
        </p:txBody>
      </p:sp>
      <p:pic>
        <p:nvPicPr>
          <p:cNvPr id="117" name="Google Shape;117;p21" title="Screenshot 2026-05-12 at 2.58.58 PM.png"/>
          <p:cNvPicPr preferRelativeResize="0"/>
          <p:nvPr/>
        </p:nvPicPr>
        <p:blipFill>
          <a:blip r:embed="rId3">
            <a:alphaModFix/>
          </a:blip>
          <a:stretch>
            <a:fillRect/>
          </a:stretch>
        </p:blipFill>
        <p:spPr>
          <a:xfrm>
            <a:off x="457200" y="1063225"/>
            <a:ext cx="5345600" cy="3468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solidFill>
                  <a:schemeClr val="dk1"/>
                </a:solidFill>
                <a:latin typeface="Calibri"/>
                <a:ea typeface="Calibri"/>
                <a:cs typeface="Calibri"/>
                <a:sym typeface="Calibri"/>
              </a:rPr>
              <a:t>Regression Results</a:t>
            </a:r>
            <a:endParaRPr/>
          </a:p>
        </p:txBody>
      </p:sp>
      <p:sp>
        <p:nvSpPr>
          <p:cNvPr id="123" name="Google Shape;123;p22"/>
          <p:cNvSpPr txBox="1"/>
          <p:nvPr>
            <p:ph idx="1" type="body"/>
          </p:nvPr>
        </p:nvSpPr>
        <p:spPr>
          <a:xfrm>
            <a:off x="5210350" y="1200150"/>
            <a:ext cx="3476400" cy="3394500"/>
          </a:xfrm>
          <a:prstGeom prst="rect">
            <a:avLst/>
          </a:prstGeom>
          <a:noFill/>
          <a:ln>
            <a:noFill/>
          </a:ln>
        </p:spPr>
        <p:txBody>
          <a:bodyPr anchorCtr="0" anchor="t" bIns="45700" lIns="91425" spcFirstLastPara="1" rIns="91425" wrap="square" tIns="45700">
            <a:normAutofit/>
          </a:bodyPr>
          <a:lstStyle/>
          <a:p>
            <a:pPr indent="0" lvl="0" marL="0" rtl="0" algn="l">
              <a:spcBef>
                <a:spcPts val="640"/>
              </a:spcBef>
              <a:spcAft>
                <a:spcPts val="1200"/>
              </a:spcAft>
              <a:buNone/>
            </a:pPr>
            <a:r>
              <a:rPr lang="en"/>
              <a:t>The TV Only sample and the comparing era regressions are statistically significant but the full sample isn’t. Interesting things variables to look at are for TV Only and Before Vs. After 2000 are: log(members), post.y2k, and episodes. </a:t>
            </a:r>
            <a:endParaRPr/>
          </a:p>
        </p:txBody>
      </p:sp>
      <p:pic>
        <p:nvPicPr>
          <p:cNvPr id="124" name="Google Shape;124;p22" title="Screenshot 2026-05-12 at 3.03.39 PM.png"/>
          <p:cNvPicPr preferRelativeResize="0"/>
          <p:nvPr/>
        </p:nvPicPr>
        <p:blipFill>
          <a:blip r:embed="rId3">
            <a:alphaModFix/>
          </a:blip>
          <a:stretch>
            <a:fillRect/>
          </a:stretch>
        </p:blipFill>
        <p:spPr>
          <a:xfrm>
            <a:off x="1032650" y="1063400"/>
            <a:ext cx="3699575" cy="36679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 sz="4400">
                <a:solidFill>
                  <a:schemeClr val="dk1"/>
                </a:solidFill>
                <a:latin typeface="Calibri"/>
                <a:ea typeface="Calibri"/>
                <a:cs typeface="Calibri"/>
                <a:sym typeface="Calibri"/>
              </a:rPr>
              <a:t>Interpretation for T</a:t>
            </a:r>
            <a:r>
              <a:rPr lang="en" sz="4400">
                <a:latin typeface="Calibri"/>
                <a:ea typeface="Calibri"/>
                <a:cs typeface="Calibri"/>
                <a:sym typeface="Calibri"/>
              </a:rPr>
              <a:t>V-only</a:t>
            </a:r>
            <a:endParaRPr/>
          </a:p>
        </p:txBody>
      </p:sp>
      <p:sp>
        <p:nvSpPr>
          <p:cNvPr id="130" name="Google Shape;130;p2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640"/>
              </a:spcBef>
              <a:spcAft>
                <a:spcPts val="0"/>
              </a:spcAft>
              <a:buNone/>
            </a:pPr>
            <a:r>
              <a:rPr lang="en"/>
              <a:t>log(members) ≈ 0.27: Strong positive effect — more popular TV anime get higher scores.</a:t>
            </a:r>
            <a:endParaRPr/>
          </a:p>
          <a:p>
            <a:pPr indent="0" lvl="0" marL="0" rtl="0" algn="l">
              <a:spcBef>
                <a:spcPts val="1200"/>
              </a:spcBef>
              <a:spcAft>
                <a:spcPts val="0"/>
              </a:spcAft>
              <a:buNone/>
            </a:pPr>
            <a:r>
              <a:rPr lang="en"/>
              <a:t>episodes ≈ 0.0002: Very small positive effect on score within TV anime.</a:t>
            </a:r>
            <a:endParaRPr/>
          </a:p>
          <a:p>
            <a:pPr indent="0" lvl="0" marL="0" rtl="0" algn="l">
              <a:spcBef>
                <a:spcPts val="1200"/>
              </a:spcBef>
              <a:spcAft>
                <a:spcPts val="0"/>
              </a:spcAft>
              <a:buNone/>
            </a:pPr>
            <a:r>
              <a:rPr lang="en"/>
              <a:t>post.y2k TV-only ≈ -0.58: TV anime post-2000 score significantly lower on average than pre-2000 TV anime.</a:t>
            </a:r>
            <a:endParaRPr/>
          </a:p>
          <a:p>
            <a:pPr indent="0" lvl="0" marL="0" rtl="0" algn="l">
              <a:spcBef>
                <a:spcPts val="1200"/>
              </a:spcBef>
              <a:spcAft>
                <a:spcPts val="1200"/>
              </a:spcAft>
              <a:buNone/>
            </a:pPr>
            <a:r>
              <a:rPr lang="en"/>
              <a:t>episodes × post.y2k (≈ 0.001): After 2000, longer TV anime are rewarded more in ratings than before 2000.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457200" y="205978"/>
            <a:ext cx="8229600" cy="857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
              <a:t>Interpretation for Before Vs. After 2000</a:t>
            </a:r>
            <a:endParaRPr/>
          </a:p>
        </p:txBody>
      </p:sp>
      <p:sp>
        <p:nvSpPr>
          <p:cNvPr id="136" name="Google Shape;136;p24"/>
          <p:cNvSpPr txBox="1"/>
          <p:nvPr>
            <p:ph idx="1" type="body"/>
          </p:nvPr>
        </p:nvSpPr>
        <p:spPr>
          <a:xfrm>
            <a:off x="457200" y="1200150"/>
            <a:ext cx="82296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
              <a:t>log(members) ≈ 0.30: Strong positive relationship between popularity and score across both periods.</a:t>
            </a:r>
            <a:endParaRPr/>
          </a:p>
          <a:p>
            <a:pPr indent="0" lvl="0" marL="0" rtl="0" algn="l">
              <a:spcBef>
                <a:spcPts val="1200"/>
              </a:spcBef>
              <a:spcAft>
                <a:spcPts val="0"/>
              </a:spcAft>
              <a:buNone/>
            </a:pPr>
            <a:r>
              <a:rPr lang="en"/>
              <a:t>e</a:t>
            </a:r>
            <a:r>
              <a:rPr lang="en"/>
              <a:t>pisodes ≈ 0.001: Slight positive effect on score overall.</a:t>
            </a:r>
            <a:endParaRPr/>
          </a:p>
          <a:p>
            <a:pPr indent="0" lvl="0" marL="0" rtl="0" algn="l">
              <a:spcBef>
                <a:spcPts val="1200"/>
              </a:spcBef>
              <a:spcAft>
                <a:spcPts val="0"/>
              </a:spcAft>
              <a:buNone/>
            </a:pPr>
            <a:r>
              <a:rPr lang="en"/>
              <a:t>post.y2k ≈ -0.22: After 2000, anime have lower scores on average compared to before 2000.</a:t>
            </a:r>
            <a:endParaRPr/>
          </a:p>
          <a:p>
            <a:pPr indent="0" lvl="0" marL="0" rtl="0" algn="l">
              <a:spcBef>
                <a:spcPts val="1200"/>
              </a:spcBef>
              <a:spcAft>
                <a:spcPts val="1200"/>
              </a:spcAft>
              <a:buNone/>
            </a:pPr>
            <a:r>
              <a:rPr lang="en"/>
              <a:t>episodes × post.y2k ≈ 0.001: Post-2000 anime show a stronger positive effect of episode count on score.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457200" y="205978"/>
            <a:ext cx="8229600" cy="85725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 sz="4400">
                <a:latin typeface="Calibri"/>
                <a:ea typeface="Calibri"/>
                <a:cs typeface="Calibri"/>
                <a:sym typeface="Calibri"/>
              </a:rPr>
              <a:t>Conclusion</a:t>
            </a:r>
            <a:endParaRPr sz="4400">
              <a:latin typeface="Calibri"/>
              <a:ea typeface="Calibri"/>
              <a:cs typeface="Calibri"/>
              <a:sym typeface="Calibri"/>
            </a:endParaRPr>
          </a:p>
        </p:txBody>
      </p:sp>
      <p:sp>
        <p:nvSpPr>
          <p:cNvPr id="142" name="Google Shape;142;p2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p>
            <a:pPr indent="-342900" lvl="0" marL="457200" rtl="0" algn="l">
              <a:spcBef>
                <a:spcPts val="640"/>
              </a:spcBef>
              <a:spcAft>
                <a:spcPts val="0"/>
              </a:spcAft>
              <a:buSzPts val="1800"/>
              <a:buChar char="-"/>
            </a:pPr>
            <a:r>
              <a:rPr lang="en"/>
              <a:t>Amount of episodes does have a positive relationship with score but it’s very small</a:t>
            </a:r>
            <a:endParaRPr/>
          </a:p>
          <a:p>
            <a:pPr indent="-342900" lvl="0" marL="457200" rtl="0" algn="l">
              <a:spcBef>
                <a:spcPts val="0"/>
              </a:spcBef>
              <a:spcAft>
                <a:spcPts val="0"/>
              </a:spcAft>
              <a:buSzPts val="1800"/>
              <a:buChar char="-"/>
            </a:pPr>
            <a:r>
              <a:rPr lang="en"/>
              <a:t>After 2000, anime generally tends to receive lower scores.</a:t>
            </a:r>
            <a:endParaRPr/>
          </a:p>
          <a:p>
            <a:pPr indent="-342900" lvl="0" marL="457200" rtl="0" algn="l">
              <a:spcBef>
                <a:spcPts val="0"/>
              </a:spcBef>
              <a:spcAft>
                <a:spcPts val="0"/>
              </a:spcAft>
              <a:buSzPts val="1800"/>
              <a:buChar char="-"/>
            </a:pPr>
            <a:r>
              <a:rPr lang="en"/>
              <a:t>After 2000, animes get more positive ratings per episode than before 2000</a:t>
            </a:r>
            <a:endParaRPr/>
          </a:p>
          <a:p>
            <a:pPr indent="-342900" lvl="0" marL="457200" rtl="0" algn="l">
              <a:spcBef>
                <a:spcPts val="0"/>
              </a:spcBef>
              <a:spcAft>
                <a:spcPts val="0"/>
              </a:spcAft>
              <a:buSzPts val="1800"/>
              <a:buChar char="-"/>
            </a:pPr>
            <a:r>
              <a:rPr lang="en"/>
              <a:t>Anime popularity is a significant predictor of how it is rated</a:t>
            </a:r>
            <a:endParaRPr/>
          </a:p>
          <a:p>
            <a:pPr indent="-342900" lvl="0" marL="457200" rtl="0" algn="l">
              <a:spcBef>
                <a:spcPts val="0"/>
              </a:spcBef>
              <a:spcAft>
                <a:spcPts val="0"/>
              </a:spcAft>
              <a:buSzPts val="1800"/>
              <a:buChar char="-"/>
            </a:pPr>
            <a:r>
              <a:rPr lang="en"/>
              <a:t>Weighted popularity doesn’t seem to be a very important factor in how an anime is rated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