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Roboto Slab"/>
      <p:regular r:id="rId18"/>
      <p:bold r:id="rId19"/>
    </p:embeddedFont>
    <p:embeddedFont>
      <p:font typeface="Robo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11" Type="http://schemas.openxmlformats.org/officeDocument/2006/relationships/slide" Target="slides/slide6.xml"/><Relationship Id="rId22" Type="http://schemas.openxmlformats.org/officeDocument/2006/relationships/font" Target="fonts/Roboto-italic.fntdata"/><Relationship Id="rId10" Type="http://schemas.openxmlformats.org/officeDocument/2006/relationships/slide" Target="slides/slide5.xml"/><Relationship Id="rId21" Type="http://schemas.openxmlformats.org/officeDocument/2006/relationships/font" Target="fonts/Robot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Robo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Slab-bold.fntdata"/><Relationship Id="rId6" Type="http://schemas.openxmlformats.org/officeDocument/2006/relationships/slide" Target="slides/slide1.xml"/><Relationship Id="rId18" Type="http://schemas.openxmlformats.org/officeDocument/2006/relationships/font" Target="fonts/RobotoSlab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e1499afebe_0_2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e1499afebe_0_2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e1499afebe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g3e1499afebe_2_7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e1499afebe_2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g3e1499afebe_2_8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1499afebe_2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g3e1499afebe_2_8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e1499afebe_0_2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e1499afebe_0_2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e1499afebe_2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g3e1499afebe_2_9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e1499afebe_2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3e1499afebe_2_10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e1499afebe_2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g3e1499afebe_2_10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1499afebe_2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e1499afebe_2_11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e1499afebe_0_2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e1499afebe_0_2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e1499afebe_2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e1499afebe_2_11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7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1" name="Google Shape;61;p13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62" name="Google Shape;62;p13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3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3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Anime: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Does more episodes mean better ratings?</a:t>
            </a:r>
            <a:endParaRPr/>
          </a:p>
        </p:txBody>
      </p:sp>
      <p:sp>
        <p:nvSpPr>
          <p:cNvPr id="70" name="Google Shape;70;p14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Najé Gray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Eco 590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Dr. Kaltenberg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457200" y="199053"/>
            <a:ext cx="82296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Motivation</a:t>
            </a:r>
            <a:endParaRPr sz="4400"/>
          </a:p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spcBef>
                <a:spcPts val="360"/>
              </a:spcBef>
              <a:spcAft>
                <a:spcPts val="0"/>
              </a:spcAft>
              <a:buSzPts val="2400"/>
              <a:buChar char="-"/>
            </a:pPr>
            <a:r>
              <a:rPr lang="en" sz="2400"/>
              <a:t>Some animes are notoriously long yet have die-hard fanbases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 sz="2400"/>
              <a:t>Some animes get cancelled after a single season but are regarded as some of the best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 sz="2400"/>
              <a:t>I wondered if length was at all a contributing factor this</a:t>
            </a:r>
            <a:endParaRPr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Research Questions</a:t>
            </a:r>
            <a:endParaRPr sz="4400"/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does the number of episodes a</a:t>
            </a:r>
            <a:r>
              <a:rPr lang="en" sz="3200">
                <a:latin typeface="Calibri"/>
                <a:ea typeface="Calibri"/>
                <a:cs typeface="Calibri"/>
                <a:sym typeface="Calibri"/>
              </a:rPr>
              <a:t>n anime has</a:t>
            </a: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affect</a:t>
            </a:r>
            <a:r>
              <a:rPr lang="en" sz="3200">
                <a:latin typeface="Calibri"/>
                <a:ea typeface="Calibri"/>
                <a:cs typeface="Calibri"/>
                <a:sym typeface="Calibri"/>
              </a:rPr>
              <a:t> viewer rating and f</a:t>
            </a:r>
            <a:r>
              <a:rPr lang="en" sz="3200">
                <a:latin typeface="Calibri"/>
                <a:ea typeface="Calibri"/>
                <a:cs typeface="Calibri"/>
                <a:sym typeface="Calibri"/>
              </a:rPr>
              <a:t>urthermore, does this change when accounting for only tv animes?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latin typeface="Calibri"/>
                <a:ea typeface="Calibri"/>
                <a:cs typeface="Calibri"/>
                <a:sym typeface="Calibri"/>
              </a:rPr>
              <a:t>How does the era of time the anime came out affect rating as well? 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2900" rtl="0" algn="l">
              <a:spcBef>
                <a:spcPts val="64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latin typeface="Calibri"/>
                <a:ea typeface="Calibri"/>
                <a:cs typeface="Calibri"/>
                <a:sym typeface="Calibri"/>
              </a:rPr>
              <a:t>Key </a:t>
            </a: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Variables</a:t>
            </a:r>
            <a:endParaRPr/>
          </a:p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Dependent variable: score (user rating)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" sz="3200"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ndependent variable: episodes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Controls: members, </a:t>
            </a:r>
            <a:r>
              <a:rPr lang="en" sz="3200">
                <a:latin typeface="Calibri"/>
                <a:ea typeface="Calibri"/>
                <a:cs typeface="Calibri"/>
                <a:sym typeface="Calibri"/>
              </a:rPr>
              <a:t>year, type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Collection</a:t>
            </a:r>
            <a:endParaRPr/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4721750" y="1063225"/>
            <a:ext cx="41148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            -Data was simple to work with just a list of variables with each anime: 20 per page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3429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-Performing a simple for loop to go through all the pages and gather the data from it took around 20 minutes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3429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- Needed to use extend instead of append since data would be in blocks of 20 instead of individual lines that I could add to a data set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3429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p18" title="Screenshot 2026-05-12 at 2.04.13 PM.png"/>
          <p:cNvPicPr preferRelativeResize="0"/>
          <p:nvPr/>
        </p:nvPicPr>
        <p:blipFill rotWithShape="1">
          <a:blip r:embed="rId3">
            <a:alphaModFix/>
          </a:blip>
          <a:srcRect b="-55596" l="-10545" r="-79460" t="-34410"/>
          <a:stretch/>
        </p:blipFill>
        <p:spPr>
          <a:xfrm>
            <a:off x="-404352" y="205975"/>
            <a:ext cx="8646703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Data Collected</a:t>
            </a:r>
            <a:endParaRPr sz="4400"/>
          </a:p>
        </p:txBody>
      </p:sp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457200" y="3961950"/>
            <a:ext cx="8229600" cy="63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7200"/>
              <a:t>Created Variables: p</a:t>
            </a:r>
            <a:r>
              <a:rPr lang="en" sz="7200"/>
              <a:t>ost y2k - Binary Variable that is a 1 if the anime was released during 2000 or later and a 0 if it was released beforehand</a:t>
            </a:r>
            <a:endParaRPr sz="7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7200"/>
              <a:t>weighted popularity - Members/Episodes</a:t>
            </a:r>
            <a:endParaRPr sz="7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2" name="Google Shape;102;p19" title="Screenshot 2026-05-12 at 2.02.5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1798" y="1020414"/>
            <a:ext cx="7156676" cy="275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latin typeface="Calibri"/>
                <a:ea typeface="Calibri"/>
                <a:cs typeface="Calibri"/>
                <a:sym typeface="Calibri"/>
              </a:rPr>
              <a:t>Graphs</a:t>
            </a:r>
            <a:endParaRPr/>
          </a:p>
        </p:txBody>
      </p:sp>
      <p:sp>
        <p:nvSpPr>
          <p:cNvPr id="108" name="Google Shape;108;p20"/>
          <p:cNvSpPr txBox="1"/>
          <p:nvPr>
            <p:ph idx="1" type="body"/>
          </p:nvPr>
        </p:nvSpPr>
        <p:spPr>
          <a:xfrm>
            <a:off x="6426650" y="1281150"/>
            <a:ext cx="2544300" cy="32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shorter animes seem to have a lot of variance and are on average have less score than the other ones. The medium length and the longer animes are relatively the same score and have similar variance.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20" title="anime_plots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" y="928637"/>
            <a:ext cx="6992225" cy="390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0"/>
          <p:cNvPicPr preferRelativeResize="0"/>
          <p:nvPr/>
        </p:nvPicPr>
        <p:blipFill rotWithShape="1">
          <a:blip r:embed="rId4">
            <a:alphaModFix/>
          </a:blip>
          <a:srcRect b="0" l="0" r="0" t="15740"/>
          <a:stretch/>
        </p:blipFill>
        <p:spPr>
          <a:xfrm>
            <a:off x="7243675" y="137076"/>
            <a:ext cx="760364" cy="114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Regression Code</a:t>
            </a:r>
            <a:endParaRPr/>
          </a:p>
        </p:txBody>
      </p:sp>
      <p:sp>
        <p:nvSpPr>
          <p:cNvPr id="116" name="Google Shape;116;p21"/>
          <p:cNvSpPr txBox="1"/>
          <p:nvPr>
            <p:ph idx="1" type="body"/>
          </p:nvPr>
        </p:nvSpPr>
        <p:spPr>
          <a:xfrm>
            <a:off x="6087575" y="1100450"/>
            <a:ext cx="29544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342900" rtl="0" algn="l">
              <a:spcBef>
                <a:spcPts val="640"/>
              </a:spcBef>
              <a:spcAft>
                <a:spcPts val="1200"/>
              </a:spcAft>
              <a:buNone/>
            </a:pPr>
            <a:r>
              <a:rPr lang="en"/>
              <a:t>Here I made 3 regressions: one with the full sample, one for tv only, and another that compares the post 2000 vs pre 2000 eras to see which one was rated better. </a:t>
            </a:r>
            <a:endParaRPr/>
          </a:p>
        </p:txBody>
      </p:sp>
      <p:pic>
        <p:nvPicPr>
          <p:cNvPr id="117" name="Google Shape;117;p21" title="Screenshot 2026-05-12 at 2.58.5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063225"/>
            <a:ext cx="5345600" cy="346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Regression Results</a:t>
            </a:r>
            <a:endParaRPr/>
          </a:p>
        </p:txBody>
      </p:sp>
      <p:sp>
        <p:nvSpPr>
          <p:cNvPr id="123" name="Google Shape;123;p22"/>
          <p:cNvSpPr txBox="1"/>
          <p:nvPr>
            <p:ph idx="1" type="body"/>
          </p:nvPr>
        </p:nvSpPr>
        <p:spPr>
          <a:xfrm>
            <a:off x="5210350" y="1200150"/>
            <a:ext cx="34764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1200"/>
              </a:spcAft>
              <a:buNone/>
            </a:pPr>
            <a:r>
              <a:rPr lang="en"/>
              <a:t>Interesting things variables to look at are for Full Sample, TV Only, and Before Vs. After 2000 are: log(members), post.y2k, and episodes. </a:t>
            </a:r>
            <a:endParaRPr/>
          </a:p>
        </p:txBody>
      </p:sp>
      <p:pic>
        <p:nvPicPr>
          <p:cNvPr id="124" name="Google Shape;124;p22" title="Screenshot 2026-05-12 at 3.03.3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2650" y="1063400"/>
            <a:ext cx="3699575" cy="3667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Interpretation for </a:t>
            </a:r>
            <a:r>
              <a:rPr lang="en" sz="4400">
                <a:latin typeface="Calibri"/>
                <a:ea typeface="Calibri"/>
                <a:cs typeface="Calibri"/>
                <a:sym typeface="Calibri"/>
              </a:rPr>
              <a:t>Full Sample/</a:t>
            </a: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" sz="4400">
                <a:latin typeface="Calibri"/>
                <a:ea typeface="Calibri"/>
                <a:cs typeface="Calibri"/>
                <a:sym typeface="Calibri"/>
              </a:rPr>
              <a:t>V-only</a:t>
            </a:r>
            <a:endParaRPr/>
          </a:p>
        </p:txBody>
      </p:sp>
      <p:sp>
        <p:nvSpPr>
          <p:cNvPr id="130" name="Google Shape;130;p23"/>
          <p:cNvSpPr txBox="1"/>
          <p:nvPr>
            <p:ph idx="1" type="body"/>
          </p:nvPr>
        </p:nvSpPr>
        <p:spPr>
          <a:xfrm>
            <a:off x="457200" y="1182775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/>
              <a:t>log(members) ≈ 0.3/0.27: Strong positive effect — more popular TV anime get higher scores.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episodes ≈ 0.001/0.0002: Very small positive effect on score within TV anime.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post.y2k ≈ -0.23/-0.58: TV anime post-2000 score significantly lower on average than pre-2000 TV anime.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weighted popularity is negligible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Interpretation for Before Vs. After 2000</a:t>
            </a:r>
            <a:endParaRPr/>
          </a:p>
        </p:txBody>
      </p:sp>
      <p:sp>
        <p:nvSpPr>
          <p:cNvPr id="136" name="Google Shape;136;p24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/>
              <a:t>log(members) ≈ 0.30: Strong positive relationship between popularity and score across both periods.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</a:t>
            </a:r>
            <a:r>
              <a:rPr lang="en"/>
              <a:t>pisodes ≈ 0.001: Slight positive effect on score overall.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post.y2k ≈ -0.24: After 2000, anime have lower scores on average compared to before 2000.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episodes × post.y2k ≈ 0.001: Post-2000 anime show a stronger positive effect of episode count on score.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</a:t>
            </a:r>
            <a:r>
              <a:rPr lang="en"/>
              <a:t>eighted popularity is also negligible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5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64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Amount of episodes does have a positive relationship with score but it’s very small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After 2000, anime generally tends to receive lower scores.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After 2000, animes get more positive ratings per episode than before 2000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Anime popularity is a significant predictor of how it is rated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Weighted popularity doesn’t seem to be a very important factor in how an anime is rated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